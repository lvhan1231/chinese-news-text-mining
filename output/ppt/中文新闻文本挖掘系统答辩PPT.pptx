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9605b262b646a6" /><Relationship Type="http://schemas.openxmlformats.org/officeDocument/2006/relationships/extended-properties" Target="/docProps/app.xml" Id="R4d0022bdf92b4f2e" /><Relationship Type="http://schemas.openxmlformats.org/officeDocument/2006/relationships/officeDocument" Target="/ppt/presentation.xml" Id="Rc53abfed5b4e46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d67c5d06b84c4e"/>
  </p:sldMasterIdLst>
  <p:notesMasterIdLst>
    <p:notesMasterId xmlns:r="http://schemas.openxmlformats.org/officeDocument/2006/relationships" r:id="R39471214abd4446d"/>
  </p:notesMasterIdLst>
  <p:sldIdLst>
    <p:sldId xmlns:r="http://schemas.openxmlformats.org/officeDocument/2006/relationships" id="256" r:id="R46a2d2b3b9a04d1c"/>
    <p:sldId xmlns:r="http://schemas.openxmlformats.org/officeDocument/2006/relationships" id="257" r:id="R4b0a13082b9847d4"/>
    <p:sldId xmlns:r="http://schemas.openxmlformats.org/officeDocument/2006/relationships" id="258" r:id="R2058c71cac1e45cf"/>
    <p:sldId xmlns:r="http://schemas.openxmlformats.org/officeDocument/2006/relationships" id="259" r:id="R0d8cc126d7c84968"/>
    <p:sldId xmlns:r="http://schemas.openxmlformats.org/officeDocument/2006/relationships" id="260" r:id="Ra048822ec1984ddd"/>
    <p:sldId xmlns:r="http://schemas.openxmlformats.org/officeDocument/2006/relationships" id="261" r:id="R0a26d4e2c37645bf"/>
    <p:sldId xmlns:r="http://schemas.openxmlformats.org/officeDocument/2006/relationships" id="262" r:id="Rf6802c20ab9c41ce"/>
    <p:sldId xmlns:r="http://schemas.openxmlformats.org/officeDocument/2006/relationships" id="263" r:id="Rc2161c17c3a34db9"/>
    <p:sldId xmlns:r="http://schemas.openxmlformats.org/officeDocument/2006/relationships" id="264" r:id="Rdedd845135ec4e9b"/>
    <p:sldId xmlns:r="http://schemas.openxmlformats.org/officeDocument/2006/relationships" id="265" r:id="Ra1730060d3a24a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e967aee72b472c" /><Relationship Type="http://schemas.openxmlformats.org/officeDocument/2006/relationships/slideMaster" Target="/ppt/slideMasters/slideMaster1.xml" Id="Recd67c5d06b84c4e" /><Relationship Type="http://schemas.openxmlformats.org/officeDocument/2006/relationships/notesMaster" Target="/ppt/notesMasters/notesMaster1.xml" Id="R39471214abd4446d" /><Relationship Type="http://schemas.openxmlformats.org/officeDocument/2006/relationships/presProps" Target="/ppt/presProps.xml" Id="Rf923160ba84b4a77" /><Relationship Type="http://schemas.openxmlformats.org/officeDocument/2006/relationships/viewProps" Target="/ppt/viewProps.xml" Id="R6070b0ca07494ece" /><Relationship Type="http://schemas.openxmlformats.org/officeDocument/2006/relationships/tableStyles" Target="/ppt/tableStyles.xml" Id="Rb595125ddc954ae9" /><Relationship Type="http://schemas.openxmlformats.org/officeDocument/2006/relationships/slide" Target="/ppt/slides/slide1.xml" Id="R46a2d2b3b9a04d1c" /><Relationship Type="http://schemas.openxmlformats.org/officeDocument/2006/relationships/slide" Target="/ppt/slides/slide2.xml" Id="R4b0a13082b9847d4" /><Relationship Type="http://schemas.openxmlformats.org/officeDocument/2006/relationships/slide" Target="/ppt/slides/slide3.xml" Id="R2058c71cac1e45cf" /><Relationship Type="http://schemas.openxmlformats.org/officeDocument/2006/relationships/slide" Target="/ppt/slides/slide4.xml" Id="R0d8cc126d7c84968" /><Relationship Type="http://schemas.openxmlformats.org/officeDocument/2006/relationships/slide" Target="/ppt/slides/slide5.xml" Id="Ra048822ec1984ddd" /><Relationship Type="http://schemas.openxmlformats.org/officeDocument/2006/relationships/slide" Target="/ppt/slides/slide6.xml" Id="R0a26d4e2c37645bf" /><Relationship Type="http://schemas.openxmlformats.org/officeDocument/2006/relationships/slide" Target="/ppt/slides/slide7.xml" Id="Rf6802c20ab9c41ce" /><Relationship Type="http://schemas.openxmlformats.org/officeDocument/2006/relationships/slide" Target="/ppt/slides/slide8.xml" Id="Rc2161c17c3a34db9" /><Relationship Type="http://schemas.openxmlformats.org/officeDocument/2006/relationships/slide" Target="/ppt/slides/slide9.xml" Id="Rdedd845135ec4e9b" /><Relationship Type="http://schemas.openxmlformats.org/officeDocument/2006/relationships/slide" Target="/ppt/slides/slide10.xml" Id="Ra1730060d3a24a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90841be36045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e76de06ca24dd7" /><Relationship Type="http://schemas.openxmlformats.org/officeDocument/2006/relationships/notesMaster" Target="/ppt/notesMasters/notesMaster1.xml" Id="Re19cd9967c9245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1f0edff07b48a9" /><Relationship Type="http://schemas.openxmlformats.org/officeDocument/2006/relationships/notesMaster" Target="/ppt/notesMasters/notesMaster1.xml" Id="Rb6d8219f8b16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93f8badef142ab" /><Relationship Type="http://schemas.openxmlformats.org/officeDocument/2006/relationships/notesMaster" Target="/ppt/notesMasters/notesMaster1.xml" Id="Rebffcdeb60a1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b0339f3fc74d59" /><Relationship Type="http://schemas.openxmlformats.org/officeDocument/2006/relationships/notesMaster" Target="/ppt/notesMasters/notesMaster1.xml" Id="R6223a11d642a4c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a668c88b78433a" /><Relationship Type="http://schemas.openxmlformats.org/officeDocument/2006/relationships/notesMaster" Target="/ppt/notesMasters/notesMaster1.xml" Id="R85db44e9d27644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46ab70e35c4908" /><Relationship Type="http://schemas.openxmlformats.org/officeDocument/2006/relationships/notesMaster" Target="/ppt/notesMasters/notesMaster1.xml" Id="R888dc16a09f641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0f0b8d08b04d6d" /><Relationship Type="http://schemas.openxmlformats.org/officeDocument/2006/relationships/notesMaster" Target="/ppt/notesMasters/notesMaster1.xml" Id="R363d82bb068646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8ff41a42c3479d" /><Relationship Type="http://schemas.openxmlformats.org/officeDocument/2006/relationships/notesMaster" Target="/ppt/notesMasters/notesMaster1.xml" Id="Rad5c17f4d7fb42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7f8e846c204482" /><Relationship Type="http://schemas.openxmlformats.org/officeDocument/2006/relationships/notesMaster" Target="/ppt/notesMasters/notesMaster1.xml" Id="Rb28ec1d080fa4c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61822758ad4929" /><Relationship Type="http://schemas.openxmlformats.org/officeDocument/2006/relationships/notesMaster" Target="/ppt/notesMasters/notesMaster1.xml" Id="R1a2d6b3d63db4d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201cd90e142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85bfae42ed4041" /><Relationship Type="http://schemas.openxmlformats.org/officeDocument/2006/relationships/slideLayout" Target="/ppt/slideLayouts/slideLayout1.xml" Id="Ra80721c016844d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0721c016844d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a0437f604469e" /><Relationship Type="http://schemas.openxmlformats.org/officeDocument/2006/relationships/notesSlide" Target="/ppt/notesSlides/notesSlide1.xml" Id="Rddd285d062cc43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ad58a011d4968" /><Relationship Type="http://schemas.openxmlformats.org/officeDocument/2006/relationships/notesSlide" Target="/ppt/notesSlides/notesSlide2.xml" Id="Rdbb3e315cc0b49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1130316f44360" /><Relationship Type="http://schemas.openxmlformats.org/officeDocument/2006/relationships/notesSlide" Target="/ppt/notesSlides/notesSlide3.xml" Id="R780840134f794a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b35f168c84fec" /><Relationship Type="http://schemas.openxmlformats.org/officeDocument/2006/relationships/notesSlide" Target="/ppt/notesSlides/notesSlide4.xml" Id="R36398a283dd3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2dbeba6cc45df" /><Relationship Type="http://schemas.openxmlformats.org/officeDocument/2006/relationships/notesSlide" Target="/ppt/notesSlides/notesSlide5.xml" Id="Ra264c4945fc740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02c2c1c294c23" /><Relationship Type="http://schemas.openxmlformats.org/officeDocument/2006/relationships/notesSlide" Target="/ppt/notesSlides/notesSlide6.xml" Id="R55d73ce2397842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2ccfa72d1488d" /><Relationship Type="http://schemas.openxmlformats.org/officeDocument/2006/relationships/notesSlide" Target="/ppt/notesSlides/notesSlide7.xml" Id="R5b8ef8def983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24d22204c4447" /><Relationship Type="http://schemas.openxmlformats.org/officeDocument/2006/relationships/image" Target="/ppt/media/image.png" Id="Rb4fc5f765ffc499d" /><Relationship Type="http://schemas.openxmlformats.org/officeDocument/2006/relationships/notesSlide" Target="/ppt/notesSlides/notesSlide8.xml" Id="Rdb889680230944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f44ff02e743b6" /><Relationship Type="http://schemas.openxmlformats.org/officeDocument/2006/relationships/notesSlide" Target="/ppt/notesSlides/notesSlide9.xml" Id="Rb585c7d53dd04b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a3f11729d457e" /><Relationship Type="http://schemas.openxmlformats.org/officeDocument/2006/relationships/notesSlide" Target="/ppt/notesSlides/notesSlide10.xml" Id="R1a291ed3833740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41C158A-E59F-48CE-AE50-8B5A153D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00A966-EABB-461F-AAA1-68F5D22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D735B-477B-464E-B2CB-F152B6A0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638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中文新闻文本挖掘</a:t>
            </a:r>
          </a:p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与热点发现系统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A8973-EB51-41CA-BD05-E0C53CC9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590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基于 CLUE/TNEWS 数据集，完成新闻分类、主题发现、关键词抽取、相似检索与可视化演示。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C53B6-5BB0-4DFE-9FF2-C0B50748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38200"/>
            <a:ext cx="3714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7B7AB-D8B4-4524-B7FC-14F9BA5F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104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实时新闻流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053A2-A512-460D-AD85-8B9E869C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002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DB91E-ADA4-4FE6-9056-8A7B3023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7240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华为发布新款折叠屏手机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917BD-A5B5-44AE-9DB5-0AB310E7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954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59BA3-CCD4-426A-923A-C08B6A78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7526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B58EF-63AA-4C38-830B-3C629827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860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50CD1-FF24-43C9-8ABA-42D5A393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4098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中超联赛周末开赛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03E27-BAC0-4DA4-90F0-D7B1048C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A0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F3969-88D2-4B53-95B1-AC26AA37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384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体育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604A4-1020-4732-83BA-6CA185F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79AB4-6EAF-449A-AD7C-07EA0C8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095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多地房价持续调整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03112-3CAE-4314-80FA-E170B42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670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CE634-7C13-4F26-AAA8-C20AF0A0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242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房产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D8DC4-642F-4272-A457-283BFA5D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1906FE-C645-4424-BD87-D8068FF8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7814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美军航母进入相关海域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91B79-D764-4190-8651-79393A7D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7528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0715D-164B-4E41-A36D-C94C9B55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810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7A914-45DF-4A39-929C-9F063609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B2142-5F8A-47FF-B778-5CD69324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4672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高考志愿填报开始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55E26-C3EB-4419-B191-0CE9A41E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4386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A6A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96C73-C0EB-4DA4-B040-6F015EF8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495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347CD-5ECB-46E2-B0E8-5D395D1D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50E29-8A9F-4259-9329-A3B6F3B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新闻类别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B36C2-8E68-4332-B98B-7727BAD9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54BA06-5B3F-4AE1-8AE8-8AC071A7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05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系统功能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1C4D7-BF22-4245-97C3-007A7229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6.3万+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C1A81D-4A1C-4319-AC3D-D14ECDF1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053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实验样本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B003E-9EAE-4C51-9A03-230C543C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EBF35-E300-41EA-9A34-E96FC48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EFD02-356E-4E83-A466-0ACD1AA1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1329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53F83F-91C7-45CF-91DD-7078870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CA911F-8860-43C5-B95D-550B7FF7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9BAEB-AA39-4523-8414-865F9B3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短文本新闻需要自动理解，而不只是人工归类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BEE7C-1E2C-4DFD-A16E-78DC4C5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新闻标题长度短、类别多、语义边界模糊，正好适合用文本挖掘方法做完整系统验证。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1DD04-F5F7-4DCB-AFDA-5D00E2F4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476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0373A-4965-40F7-93DE-47E956E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4EEC-867D-4E7C-937D-79C4D027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908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海量标题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47B4E-8068-4B48-BAA4-D7344F9C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5433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资讯、问答、社交平台持续产生短文本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A799A-46B9-4405-8EA0-56C10475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052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0FC63-E233-49E5-8448-4811A01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48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1D93A-E0B0-4705-9404-49209934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2476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AAB74-B290-4B98-B2FB-ED9C1A3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67F13-FB3F-486E-850C-3D6DD977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908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文本挖掘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2ABB8-35A3-47E8-9E3E-98B90A58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433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清洗、分词、表示学习、分类与主题建模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B24FE-C94F-4801-BB12-5ADA849F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5052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FB7AA-9562-4E7A-96B5-F38EC320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48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A87F5-E5CB-4C30-88D6-F9972D56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2476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637ED-A8E6-4EEA-B357-F739AAA4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09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A302D-57A6-4324-8192-008E28D7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908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应用输出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50B3D-BD03-4BB7-969A-C78D2E2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5433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类别预测、热点主题、相似新闻检索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00DF8-7C80-4343-9333-818F2E2D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9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B1AB3-A00C-4144-AAD0-6E414E7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课程要求：完成一个文本挖掘领域的系统或算法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920AA-6800-4B7F-B1B6-9EBFEB56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541A4-7F63-4E91-A6DA-3A8585A6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本项目选择中文新闻标题，覆盖监督学习、无监督主题发现与信息检索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7FE78-E29C-4116-83AB-6DFD6791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3A492-C02B-4D59-9BB9-ED9084A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B21A1A-4BB3-4035-A356-7216590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3572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AF36F8-B524-4488-BC03-932D443A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D73ADA-D790-4E01-9FB5-FD3E44B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PROJECT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033FC-F732-4C03-A0D1-1DF709CE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项目不是单一分类实验，而是一个可演示的小型系统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A1A20-6596-44F9-A947-180CE106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围绕同一批中文新闻标题，输出分类、主题、关键词、相似文本和可视化页面。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BA06C-1645-428E-813F-9C8F5A1E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29E72-4FD0-45D3-BF5A-C0E0C958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文本挖掘系统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95DAA-53DD-46C9-9218-F0BC70AF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F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FE8FF"/>
                </a:solidFill>
                <a:latin typeface="Microsoft YaHei"/>
                <a:ea typeface="Microsoft YaHei"/>
                <a:cs typeface="Microsoft YaHei"/>
              </a:rPr>
              <a:t>输入新闻标题，输出可解释结果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F7270-B1AC-415F-982C-C9B93A54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51032-0518-42E3-A1FD-428DF98E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050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FA7D4-DAA6-4F1D-8CE7-93CA9097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62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新闻分类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11C8A-F498-4E9F-BC61-2976097B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预测科技/体育/财经等类别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6E2D9-6D90-4F35-BDDB-71574CB8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C94CF-E4A5-40D8-860F-2FA62BE0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A6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F9CF2-03E2-4DC4-AB24-AA619BA9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62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主题发现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78931-3F56-4F7D-9671-1DA6B9C6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NMF 提取潜在热点主题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8E0C4-2C02-4D1C-BF9E-3AF7D74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B9DE7-D2FA-4E8C-BB10-434468CA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958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7EB56-6849-4635-86EE-B487135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52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关键词抽取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B395C-7F8B-44FE-B49A-51F0015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输出文本代表词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716BF-BA47-4321-A5DC-9444D38B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88155-E839-4190-B609-692E084D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958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4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05ECF-6B2A-4559-B821-B9AAD381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52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相似检索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27F6C-16AC-4C3C-89A3-241487E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用余弦相似度找相似标题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E65B1-645E-4984-AFCA-0461336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95B3B-9026-40F7-A76A-DCCBB6E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AEA89-94E6-4068-826C-31F53AB0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23702-8B58-4ACC-9626-711C0B0B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FAF70-E255-499A-B9C1-C4E7F41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CBE98-6623-4F54-83BF-1CF9F25D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E37AAE-EB6B-497D-A2C1-E74DBA7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19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391CF8-4EF2-48B0-B959-9C6ECC9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2D3D42-6710-4CA9-BFA6-F8779178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6BD4F2-6271-41F0-B927-95540A0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F6DB0-5369-4225-B586-E57A365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1087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756A198-C6C3-412A-BE9E-2BEE784E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F7BCAA-33A8-469C-B47C-2ECF01A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C844A-34FC-4E87-B3EE-95244AFB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TNEWS 提供了真实的中文短文本多分类场景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EF15E-23B8-4CED-B0B5-754F2840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采用 CLUE Benchmark 的 TNEWS 中文新闻标题数据集；不上传完整数据，只保留公开链接和小样例。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52254-E595-4111-AC0F-73F25DAD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3337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62D43-CF54-41E9-B511-A207E2F2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53,360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C66AF-778F-40E6-9791-19146434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训练集样本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2CCA0-18C9-4685-9699-02551186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AFD45-3330-461F-B65B-BE997E01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验证集样本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2233C-BDEE-4A66-9B07-F4797CF3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6DAB8-4944-4F77-A3D3-F39AD414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类别数量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28CB3-6BDE-4C5F-AE39-32686DB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数据字段：sentence / label / idx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843D8-AB07-428B-BA80-6D514882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572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A6E9F-BD2C-4A8B-B42B-D07D2534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类别标签云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95EC1-089A-4B95-B93A-F483C56E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A0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F6452-A565-4A05-92D0-A4989175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体育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548EF-D325-4FEE-B843-22CADD0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C6A41-C962-4DF5-AAAA-9450C6B5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70978-1389-45C9-BEF7-7F8345F0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420E8-F90B-4ACD-AB5D-606FE81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农业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7F1D5-FFA5-403E-84D8-F7A3160E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861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3A934-7503-4D93-A35D-AE3162A1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国际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383FD-5D07-4BB0-BA72-839B2BF9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861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4B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FB29C-191C-4275-8A58-5395EA3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娱乐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95902-6BCC-432B-8F37-F8F87CEF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766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A6A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BD9A1-C904-4C1B-89D1-11A5A412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房产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F3F827-89EB-4B5C-AF85-76724571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766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3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92F71-F583-4DE9-A358-D6074F73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故事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D9CA8-19E5-4F7B-A000-7808F4D4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766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A0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51C17C-1A5F-4AC4-8600-EDF50DAA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1AB902-14BB-4C08-9E95-26E7F565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766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5D8960-753B-43D9-B9CD-1BC3D44D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18A56F-531E-4867-9EEF-2A4830D3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3052D4-BD8B-4F27-A540-CC9CED5F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338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旅游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D9825A-5C19-4565-B8E8-C9C0DA3D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672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A6A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1A6827-2B6A-4ABB-BABE-1F3F85FD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24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汽车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61E6A1-33E7-4374-8360-9BEAC413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672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12A30E-671E-4060-A1D7-2293362C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24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4FB124-CBEB-4119-8415-7FB62812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672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4B5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2C0A35-529A-48AE-B4C6-122A2D8A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24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科技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06142-35A9-4367-8D01-264F4B2C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3A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54B07A-C716-4A88-85E6-C752AACC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24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股票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36A909-2C73-44ED-B61A-9628679C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2672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A0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6137B4-8E11-4EBC-BA19-7A844D15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24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财经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6A7309-BA1A-4446-B5DB-859D7FB7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76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正式实验通过脚本自动下载公开数据集，符合“不要直接上传数据集”的提交要求。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1DAE39-CF22-4F60-94A1-20D66426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7295AE-C5EC-457E-9CAE-71733DA5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333E1E-3E95-4CB6-BFFB-2314423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9966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B5F2FB-C5F1-436F-936E-6CC8354B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8E6A5F-196E-4B51-981E-CD39C72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746D5-A74B-43FD-9917-871C9E4F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系统流程把数据、模型、分析和演示拆成清晰模块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86A2A-78A5-46EB-A091-9B4148CD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离线实验负责训练和评估；Web 页面负责交互式演示，便于课堂答辩。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CE931-8F19-434F-9FA1-D100D4AE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6521C-D110-4A97-B35D-0ACB8B79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01C55-D410-4447-AFDE-EABA5A73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数据读取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21066-C6B5-465C-99B2-83E1C0E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TNEWS / CSV / 样例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93BEE-AFE5-4393-92A3-DC050574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B1377-32E9-4039-B353-AC3F4B5D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AD1FD-2263-47F8-9F6A-6112C025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14625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C5CDB-B134-460D-B0D9-8C4AF7E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90C65-3622-492C-82FF-10C24A1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95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ADD2B-8634-4609-96E8-FA699806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90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清洗 + jieba 分词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AF9C0-2607-4F68-AC34-4958210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766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2C0EA-11C6-42D1-85F7-62F9D270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19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BBD89-4BD8-4AFA-9BCB-92C76336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14625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FDB26-B911-447F-B42A-DFE62467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86CF9-D77F-4D09-B0C3-95504BEC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95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特征表示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A1FEF-F4FC-4C49-850A-146EC9F3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0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词级 + 字级 TF-IDF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91EB6-A77B-47FB-8BA0-ADA5EA92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38836-E14F-4D80-AA89-90D1DF21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19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CC92D-FDE8-4C15-A24D-607E6CF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14625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3C122-D5AB-45C4-9E90-4DA57132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F36F6-A404-45A2-AD26-EDF6578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2B04F-9395-4B7D-86B2-5B06AF31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LinearSVC / NMF / 相似度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D8C14-3D54-48EC-9E07-4C9EE97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766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469C5-1432-4727-A478-F2B32798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3150A-6228-4925-8F12-5B22B2AA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14625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E7E25F-72F4-4FA0-8F17-930AE27B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60C5F3-C19D-4D72-B545-7011AAD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956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结果展示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165AB1-E30E-4298-A748-2F606C3F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909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指标 + 图表 + Streamlit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7E65EE-8BB7-46AD-A09A-FBB1B9FD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2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A9D93-15EE-4F1A-873D-90F091A9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56BE76-98AE-4041-B076-CDE3CA79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代码模块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E1C71-4326-42B2-9445-C9C99B40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196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data.py / preprocess.py / models.py / topics.py / similarity.py / run_experiment.py / app.py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B4FFBA-2D0E-435D-9901-3A92E24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F82D0D-B933-45B3-8BDC-7D320CED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90539-C7A5-487A-86F1-4630D91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5105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EBDEED7-3285-4550-A6B9-BEADC82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362A505-F330-402A-899C-CF729348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266BA-D060-41BE-B6C7-E609D82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融合词级和字级 TF-IDF，缓解中文短标题信息不足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6A249-8C75-4FE7-BA1F-57C49008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词级特征保留语义词，字级 n-gram 补充分词误差和未登录词；最终使用 LinearSVC 做 15 类分类。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385F1-66AD-41C9-8ADC-8C0DA582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F7F20-6859-4847-AD8B-E7D5D18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新闻标题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CFD8E-9364-4DF6-962F-7FD56E81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华为发布新款折叠屏手机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1BFAF-531E-4621-88D4-D2A09FEB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48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D73E0-D14E-4B40-9418-BE23248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90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E91EA-E862-432E-B988-6EE6F16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1BA0A-EE3D-45FD-A1B1-8BF57F1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中文分词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39DD4-16AB-45EC-AE40-ED9DB0DC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86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华为 / 发布 / 折叠屏 / 手机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11162-64C8-4F22-B9B9-EBE8C1EA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3CFE7-5530-4D15-8301-A1614247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26E10-3CB0-4E4D-B1AA-F4A84E6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0FC49-36C6-447F-9D3C-C76A8FC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67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词级 TF-IDF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7093D-A924-4230-BFFD-F8423A4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86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unigram + bigram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60C8B-AA7C-47AD-9B65-6AFEBA7A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4F41B-F0B3-4A6B-9AEC-73B9F84D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90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604A6-1394-4F10-9347-BACEED1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119BA-4406-454C-B0CE-9F3B4699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67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字级 TF-IDF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EDD41-3649-4822-B078-9FAED53E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2-4 字符 n-gram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69C04-FAD2-49AF-B78E-5BE0CD89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E3E52-D7A3-4511-9614-2808E585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90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0157A-FDDD-47BC-8448-CD1D63C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57500"/>
            <a:ext cx="1676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078E2-0E81-4BAA-A06E-8D8070D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670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LinearSVC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A01CD4-9F78-4F70-9843-604DE707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861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F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FE8FF"/>
                </a:solidFill>
                <a:latin typeface="Microsoft YaHei"/>
                <a:ea typeface="Microsoft YaHei"/>
                <a:cs typeface="Microsoft YaHei"/>
              </a:rPr>
              <a:t>输出中文类别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5DF598-88BC-414A-95B1-412AE82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60D24-E90D-4723-A467-CB854CE5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81575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主模型参数：词级 n-gram = 1-2，字级 n-gram = 2-4，LinearSVC C = 0.5，class_weight = balanced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DA59E-BCA0-4B06-B180-DDBE4274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F21D2-AA97-4994-B412-A677CA08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986A4C-2406-478F-813E-98F0CDFC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67122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BAF08F-F656-438A-9056-81EB297E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5EF870-D892-4299-89DF-D1619360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F0DA3-F660-47A3-8815-693CDB0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主模型在三个指标上均优于词级 Logistic Regression 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30873-F799-40F2-8A41-4592AA44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完整实验使用 53,360 条训练样本和 10,000 条验证样本；指标不虚高，但能体现真实短文本分类难度。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500CE-4FEE-4202-A376-4D7DA61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191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6859C-358D-46AF-B167-BF22561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主模型结果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79ECD-2447-4BEA-8537-56907674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0.5526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EC0AE-E7F5-4880-8FFA-A7DF111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B0784-8625-4314-BDC2-1A15C20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3850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0.5385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AC497-6F7C-49DF-B978-DA280839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528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EFA15-BD88-494F-B2EF-3FCAC21F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0.5527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E3C2F-2450-4319-9D74-33656629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Weighted-F1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F4BC9-F317-441E-8BFC-600F3806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主模型：词级 + 字级 TF-IDF + LinearSVC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3812D-BD93-4D59-A869-8EDC3506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00300"/>
            <a:ext cx="5619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CF600-7E10-410A-A989-AB7BD205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模型对比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A181F-A290-4F75-BA9E-555958D6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59F7F-D25A-4150-887C-7E170E25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91343-ADCE-4707-99A2-C8D0BE6E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8422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1EEDE-6063-4972-BD77-6898EA9A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385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55.3%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A238F-824E-4ABE-923C-48A6736F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F0C58-C3EB-4EF1-87DB-61863D20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79765-25B2-4034-B261-F948B34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179522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6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B2303-6490-4C65-9C35-773C2DDF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1475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53.8%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75CE0-E4A5-45B9-9205-D15D2D0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Weighted-F1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633E9D-2526-42A7-B89E-63AAA4D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3333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F720A-A47F-46CE-8067-3736DB38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29100"/>
            <a:ext cx="184256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03A8F-D80B-484C-B050-9B5DFD0D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91000"/>
            <a:ext cx="59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55.3%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83AB4-EEE5-4DF8-AD6E-2063D31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浅色底条表示 100%，彩色条表示主模型分数；基线 word_lr：0.5357 / 0.5215 / 0.5374。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019F5-64D9-4CAC-8506-AA79EAA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BBE96-E393-4B1A-8638-E7737103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11B2B-3E98-49FF-A556-31CE271C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3771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A5440B4-808B-4660-89C3-91780FF0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43272E-C43D-4D4A-B93D-0ED42564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11055-7575-4DC7-AF65-BB70199F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分类错误主要集中在语义接近类别之间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D03FC-CAFE-4C66-A4B3-AF94D051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军事与国际、科技与财经、房产与农业等类别存在共享词，短标题缺少上下文时容易混淆。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00D77-E3DD-460E-84F1-319DB7B9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c5f765ffc499d"/>
          <a:stretch xmlns:a="http://schemas.openxmlformats.org/drawingml/2006/main"/>
        </p:blipFill>
        <p:spPr>
          <a:xfrm xmlns:a="http://schemas.openxmlformats.org/drawingml/2006/main">
            <a:off x="1728107" y="2381250"/>
            <a:ext cx="3439886" cy="3009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3364D-124B-4116-B8A3-E4199CA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0957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FBF49-C90B-4820-8052-88EFF74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典型混淆原因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760E0-51FA-4DD9-9469-40BF067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E37BA-70A4-4BAE-9855-4A142E01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军事 / 国际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706DE-1FFC-46EA-B62C-4F5A7260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国家、冲突、军队等词共同出现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3E5BA-648A-40E2-93A1-888DE1B5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B87D3-A175-4A53-96FB-8FCD9A0E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科技 / 财经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7416B-C9DF-4919-8204-54DC0169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公司、投资、芯片等语境交叉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7946B-A0F1-4E0D-AF7E-3D857FB0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AB376-8174-46E7-9841-56B783BC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房产 / 农业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F5E05E-2CE7-4DCC-886C-8721340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农村住房、拆迁等主题重叠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290A5-2A03-46B9-8B27-BC1D4942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A3E2D-E313-4B4B-B253-351765CF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4EB8B-5C5C-41D8-9435-0D5D8326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9198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49904E9-2986-4881-96B4-1AEE359E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DED6DF3-B115-48CF-A661-E52C34BD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TOPIC MINING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80840-2D43-4172-B200-71EA2BED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NMF 主题模型把新闻集合压缩成可解释的热点词组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4920E-860E-452E-B3FB-C45FBFA9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主题发现不依赖标签，可以从标题集合中提取潜在话题，辅助热点观察与文本理解。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A44D9-895B-4065-83E2-000BB09C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2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D9C22-D7AB-48A0-861E-D3ADC0F8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74A76-CEAE-4D42-A12A-96BFDFD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90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国际政治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3F3E9-B4BF-447B-B2A4-B9A94D04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美国 / 伊朗 / 俄罗斯 / 特朗普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66303-E5A0-47E5-953B-4F07635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6220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A6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768DC-7A31-4E8B-98D1-E99EFAB0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27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2A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DFA31-AD5D-4A8D-AB00-45712BA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A6A0"/>
                </a:solidFill>
                <a:latin typeface="Microsoft YaHei"/>
                <a:ea typeface="Microsoft YaHei"/>
                <a:cs typeface="Microsoft YaHei"/>
              </a:rPr>
              <a:t>手机科技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DE2BD-0239-4B89-AB35-CB0946BD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手机 / 联想 / 杨元庆 / 发展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626EF-7C7C-4887-AC37-C29A10B7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43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4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0F8F9-BDE5-48D3-89D7-9B907646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4B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679A1-F1BA-4C9B-9FF2-449D4C11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游戏推荐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28160-DAA9-4696-9D67-2FE2B12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游戏 / 王者 / 荣耀 / 手游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F4A57-C713-4A13-999F-ED7CE9BA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719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E99BA9-E396-4630-A406-9B86A884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1B06C-0715-4A1D-9E8C-7E4F65F3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19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旅游城市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3E8E1-BCB7-49D8-978A-5C1559C7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中国 / 日本 / 游客 / 城市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5375E-10A2-4F50-ACFB-84FDDE12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719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5F0C1-3287-435E-A52B-405F43B3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624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2DD4A-EF40-4AC2-A753-22B7C8BC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19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问答观点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D890D-070F-46B6-99B2-6C61F265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387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为什么 / 如何看待 / 怎么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2394E-0467-48FC-9A33-1031F99F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769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主题结果来自 results/tnews_full/topics.csv，可在系统“主题发现”页直接查看。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B8038-1260-4B96-85E2-DC1B39A4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5F9B5-8BA9-4521-8E9A-E9DBCF2A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30773-57D1-449A-81C6-C281DF5F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5742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11D397F-8D55-4A9E-B5F2-38E239CE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273BA3-AFA9-4509-B1BC-DAC9DBEA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B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4B55"/>
                </a:solidFill>
                <a:latin typeface="Aptos"/>
                <a:ea typeface="Aptos"/>
                <a:cs typeface="Aptos"/>
              </a:rPr>
              <a:t>DEMO &amp;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A5E5D-3F6C-4F2E-AC6C-0630738E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系统已能运行演示，后续可继续提升效果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CF48A-93EC-4CA8-9EBC-9B0A7174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答辩时建议现场打开 Streamlit 页面，输入新闻标题展示中文类别预测；后续可引入 MacBERT / RoBERTa 增强语义理解。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4EAB4-D5A5-4E86-A6E0-767FCD82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1415B-44D7-46E6-A69A-5F66456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419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中文新闻文本挖掘系统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F67AB-342F-473E-9188-ADFEAED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分类预测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3D532-3422-4976-AEBE-8F795DC2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A2B1D-6216-46EC-B774-B8DAAA17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337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相似检索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C9220-6782-4892-B8B3-04E1670B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337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主题发现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3F2DA-4ACF-49EC-AE26-60B666AD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337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样例数据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87396-649B-4B8B-9E59-B97D6BAB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69428-B662-4F59-A54B-C3D9B604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8918D-DA22-448C-9D48-9F9E487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华为发布新款折叠屏手机，搭载最新人工智能芯片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8A921-42DD-4D17-B57D-29B3C2E7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4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EB4AF-4AD5-4CF3-B487-6B632F64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预测结果：科技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9927C-CA0F-4C57-A725-EAF573D6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92651-0F07-4853-9D47-5EF0028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D48FC-7867-4A9A-ADAF-29CAF740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381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812CC-C090-4D97-8241-09A51821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项目完成情况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EE217-8995-44EF-9516-C2BD0DF1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A0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E1C1A-FB78-4C2E-B96E-AFCC5462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2A06B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3E6C5-C32F-40B4-8980-02758F18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分类、主题、关键词、相似检索、Web 展示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27BE6-D826-4845-B801-29787BB5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72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922D4-41F6-42DD-8CA5-DE5DBF6E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72D0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0AF63-67CE-4B52-81E4-FE10EE74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957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Accuracy 0.5526，Macro-F1 0.5385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107CC1-8EE9-4B0F-8EB4-0034E94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EA5F-976E-4849-9FA7-5BA641A5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不足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9CEBC-16AE-41DF-983C-B1E1ED30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短标题语义信息少，类别边界存在重叠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5814E9-D676-4C5A-A7B3-B90B670B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C61B2-17A6-4BAD-967E-26DEFEDB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改进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74E18C-D56F-442F-B21E-0E3317F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244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引入 MacBERT / RoBERTa、调参和数据增强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E61CEB-F1B7-4906-B871-D40AD9AA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53100"/>
            <a:ext cx="541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B55"/>
                </a:solidFill>
                <a:latin typeface="Microsoft YaHei"/>
                <a:ea typeface="Microsoft YaHei"/>
                <a:cs typeface="Microsoft YaHei"/>
              </a:rPr>
              <a:t>演示地址：http://127.0.0.1:8501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9504B0-EBCE-45CD-8637-E8C3FACD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75C0B0-03C5-44AA-9505-1708DF97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中文新闻文本挖掘与热点发现系统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0EA112-2B9E-43A6-8D8E-3CE6BCB6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5577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2026-06-07T05:52:24.6110000Z</dcterms:created>
  <dcterms:modified xsi:type="dcterms:W3CDTF">2026-06-07T05:52:24.6110000Z</dcterms:modified>
</coreProperties>
</file>