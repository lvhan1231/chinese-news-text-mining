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552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文本挖掘课程大作业</a:t>
            </a:r>
            <a:endParaRPr sz="10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6191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</a:t>
            </a:r>
            <a:endParaRPr sz="3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与热点发现系统</a:t>
            </a:r>
            <a:endParaRPr sz="3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2686050"/>
            <a:ext cx="590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围绕中文新闻标题，完成类别预测、主题发现、关键词分析、相似检索和网页演示。</a:t>
            </a:r>
            <a:endParaRPr sz="14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428625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22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4724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新闻类别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43150" y="4286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53,360</a:t>
            </a:r>
            <a:endParaRPr sz="2250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343150" y="4724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训练样本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152900" y="4286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10,000</a:t>
            </a:r>
            <a:endParaRPr sz="22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52900" y="4724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验证样本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1066800"/>
            <a:ext cx="3429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562850" y="1390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新闻标题</a:t>
            </a:r>
            <a:endParaRPr sz="12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62850" y="1771650"/>
            <a:ext cx="2781300" cy="609600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34300" y="190500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华为发布新款折叠屏手机，</a:t>
            </a:r>
            <a:endParaRPr sz="10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搭载最新人工智能芯片</a:t>
            </a:r>
            <a:endParaRPr sz="10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39200" y="2647950"/>
            <a:ext cx="2667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>
            <a:off x="9086850" y="259080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29550" y="3048000"/>
            <a:ext cx="2266950" cy="6667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29550" y="32194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文本挖掘模型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39200" y="3962400"/>
            <a:ext cx="2667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9086850" y="39052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96250" y="430530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43624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预测结果：科技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研究任务是中文短文本多类别挖掘，而不是简单二分类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新闻标题信息密度高但上下文很短，类别边界经常互相交叉。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381250"/>
            <a:ext cx="2857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2628900"/>
            <a:ext cx="11049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26860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 / 财经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316230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区块链投资心得，能做到就不会亏钱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81500" y="2381250"/>
            <a:ext cx="2857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2628900"/>
            <a:ext cx="11049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6860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军事 / 国际</a:t>
            </a:r>
            <a:endParaRPr sz="9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316230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以色列大规模空袭开始，伊朗多个目标遭打击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05750" y="2381250"/>
            <a:ext cx="2857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2628900"/>
            <a:ext cx="11049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34350" y="26860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房产 / 农业</a:t>
            </a:r>
            <a:endParaRPr sz="9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316230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农村住房拆迁，要钱还是要房？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762125" y="4667250"/>
            <a:ext cx="8667750" cy="70485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095500" y="4933950"/>
            <a:ext cx="76200" cy="76200"/>
          </a:xfrm>
          <a:prstGeom prst="rect">
            <a:avLst/>
          </a:prstGeom>
          <a:solidFill>
            <a:srgbClr val="12A6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286000" y="4857750"/>
            <a:ext cx="704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目标一：建立可复现的文本分类实验，比较主模型与基线模型</a:t>
            </a:r>
            <a:endParaRPr sz="11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95500" y="5238750"/>
            <a:ext cx="76200" cy="762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286000" y="5162550"/>
            <a:ext cx="781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目标二：增加主题发现、关键词和相似检索，使项目具有文本挖掘系统完整性</a:t>
            </a:r>
            <a:endParaRPr sz="11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TNEWS 数据集让实验具有真实的短文本分类难度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CLUE/TNEWS 中文新闻标题数据集，正式提交只提供数据集链接，不上传完整数据。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343150"/>
            <a:ext cx="3333750" cy="2533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89560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53,360</a:t>
            </a:r>
            <a:endParaRPr sz="22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3333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90800" y="289560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10,000</a:t>
            </a:r>
            <a:endParaRPr sz="2250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90800" y="3333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57375" y="396240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22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57375" y="44005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" y="5048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任务类型：中文新闻标题多分类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62500" y="2247900"/>
            <a:ext cx="628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05400" y="25717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类别分布覆盖多个新闻领域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31813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219700" y="32385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故事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67450" y="31813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67450" y="32385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</a:t>
            </a:r>
            <a:endParaRPr sz="9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315200" y="31813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315200" y="32385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娱乐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62950" y="31813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2A06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62950" y="32385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体育</a:t>
            </a:r>
            <a:endParaRPr sz="975" b="1">
              <a:solidFill>
                <a:srgbClr val="22A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10700" y="31813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410700" y="32385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财经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219700" y="377190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19700" y="382905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房产</a:t>
            </a:r>
            <a:endParaRPr sz="9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67450" y="377190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267450" y="382905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汽车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15200" y="377190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315200" y="382905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377190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382905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</a:t>
            </a:r>
            <a:endParaRPr sz="9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410700" y="377190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410700" y="382905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军事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219700" y="43624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2A06B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219700" y="44196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旅游</a:t>
            </a:r>
            <a:endParaRPr sz="975" b="1">
              <a:solidFill>
                <a:srgbClr val="22A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267450" y="43624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267450" y="44196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315200" y="43624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315200" y="44196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</a:t>
            </a:r>
            <a:endParaRPr sz="9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62950" y="43624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362950" y="44196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农业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10700" y="4362450"/>
            <a:ext cx="742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410700" y="4419600"/>
            <a:ext cx="74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 OVERVIEW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方法设计围绕分类、主题发现和相似检索三类任务展开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同一批新闻标题经过统一表示后，分别进入监督学习、无监督主题建模和信息检索模块。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762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971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新闻标题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3718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原始短文本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62250" y="3238500"/>
            <a:ext cx="3238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>
            <a:off x="3067050" y="31813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333750" y="2762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2971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33718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清洗、分词、过滤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38750" y="3238500"/>
            <a:ext cx="3238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5543550" y="31813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810250" y="2762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810250" y="2971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文本表示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10250" y="33718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向量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96250" y="2190750"/>
            <a:ext cx="2381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43900" y="23622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新闻分类</a:t>
            </a:r>
            <a:endParaRPr sz="142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43900" y="26670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 预测类别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3381375"/>
            <a:ext cx="2381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43900" y="35528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主题发现</a:t>
            </a:r>
            <a:endParaRPr sz="142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43900" y="38576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NMF 输出主题词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96250" y="4572000"/>
            <a:ext cx="2381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43900" y="47434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  <a:endParaRPr sz="142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43900" y="50482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余弦相似度排序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781800" y="3238500"/>
            <a:ext cx="7810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>
            <a:off x="7543800" y="31813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905250" y="468630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一个统一表示，支撑三种文本挖掘任务</a:t>
            </a:r>
            <a:endParaRPr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FEATURES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文本表示采用词级与字级 TF-IDF 的双通道融合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词级特征保留语义词，字级特征弥补中文分词误差和短文本信息不足。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362200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6670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输入标题</a:t>
            </a:r>
            <a:endParaRPr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3162300"/>
            <a:ext cx="2266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华为发布新款折叠屏手机，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搭载最新人工智能芯片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86200" y="3543300"/>
            <a:ext cx="5334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>
            <a:off x="4400550" y="34861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05375" y="2095500"/>
            <a:ext cx="2667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38750" y="2362200"/>
            <a:ext cx="1123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38750" y="24193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词级 TF-IDF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38750" y="28575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 / 折叠屏 / 手机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 / 新款 手机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05375" y="3905250"/>
            <a:ext cx="2667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38750" y="4171950"/>
            <a:ext cx="1123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238750" y="42291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字级 TF-IDF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0" y="46672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折叠 / 叠屏 / 人工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 / 工智能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3543300"/>
            <a:ext cx="5334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8324850" y="34861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58250" y="2914650"/>
            <a:ext cx="2095500" cy="10668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58250" y="3181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融合特征向量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58250" y="35623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+ char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714500" y="5581650"/>
            <a:ext cx="876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关键参数：词级 n-gram = 1-2，字级 n-gram = 2-4，使用 sublinear TF 降低高频词影响。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CLASSIFICATION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分类模型使用线性 SVM，并与词级 LR 基线对比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高维稀疏 TF-IDF 特征适合线性模型；对比基线可以说明融合特征的贡献。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2552700"/>
            <a:ext cx="19050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8384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特征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31813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词级 + 字级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048000" y="3028950"/>
            <a:ext cx="4953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>
            <a:off x="3524250" y="297180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943350" y="2362200"/>
            <a:ext cx="2381250" cy="13525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43350" y="27241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43350" y="31813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= 0.5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class_weight = balanced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3028950"/>
            <a:ext cx="4953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7048500" y="297180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2552700"/>
            <a:ext cx="2857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524750" y="28194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输出新闻类别</a:t>
            </a:r>
            <a:endParaRPr sz="16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31813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 / 体育 / 财经 / 教育 ...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85900" y="4438650"/>
            <a:ext cx="4095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790700" y="4724400"/>
            <a:ext cx="876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6670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90700" y="478155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基线模型</a:t>
            </a:r>
            <a:endParaRPr sz="975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14650" y="47625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词级 TF-IDF + Logistic Regression</a:t>
            </a:r>
            <a:endParaRPr sz="11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4438650"/>
            <a:ext cx="40957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10350" y="46482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0.5526</a:t>
            </a:r>
            <a:endParaRPr sz="22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10350" y="5086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主模型 Accuracy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39150" y="46482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0.5357</a:t>
            </a:r>
            <a:endParaRPr sz="225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39150" y="5086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 Accuracy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实验结果说明传统模型可形成稳定、可解释的短文本基线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任务包含 15 个细粒度类别，标题上下文有限，因此指标体现真实难度，而非异常高分。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286000"/>
            <a:ext cx="3714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2609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主模型验证集指标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2766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0.5526</a:t>
            </a:r>
            <a:endParaRPr sz="22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37147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Accuracy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00275" y="32766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0.5385</a:t>
            </a:r>
            <a:endParaRPr sz="2250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00275" y="37147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Macro-F1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90900" y="32766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0.5527</a:t>
            </a:r>
            <a:endParaRPr sz="22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37147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Weighted-F1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4629150"/>
            <a:ext cx="1714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695450" y="46863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优于 word_lr 基线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2171700"/>
            <a:ext cx="5524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064" y="2400300"/>
            <a:ext cx="3069771" cy="268605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8934450" y="3124200"/>
            <a:ext cx="152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误差主要来自语义相近类别：军事/国际、科技/财经、房产/农业。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TOPIC MINING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NMF 主题发现补充了无监督文本挖掘视角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分类依赖标签，主题发现则从文本集合中自动提取潜在热点词组。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571750"/>
            <a:ext cx="2000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952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矩阵 V</a:t>
            </a:r>
            <a:endParaRPr sz="16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33337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 × 词项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90900" y="3143250"/>
            <a:ext cx="5334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>
            <a:off x="3905250" y="308610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00550" y="2400300"/>
            <a:ext cx="2381250" cy="14859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27622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NMF 分解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≈ W × H</a:t>
            </a:r>
            <a:endParaRPr sz="1350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29450" y="3143250"/>
            <a:ext cx="5334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7543800" y="308610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2571750"/>
            <a:ext cx="2381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39100" y="2952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主题词 Top-N</a:t>
            </a:r>
            <a:endParaRPr sz="1650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39100" y="3333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每个主题取高权重词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19250" y="4686300"/>
            <a:ext cx="2381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790700" y="4876800"/>
            <a:ext cx="857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90700" y="49339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国际政治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24150" y="48958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 / 伊朗 / 俄罗斯 / 特朗普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4686300"/>
            <a:ext cx="2381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43450" y="4876800"/>
            <a:ext cx="857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743450" y="49339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游戏推荐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76900" y="48958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 / 王者 / 荣耀 / 手游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524750" y="4686300"/>
            <a:ext cx="2381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696200" y="4876800"/>
            <a:ext cx="857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2A6A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96200" y="49339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手机科技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29650" y="48958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 / 联想 / 芯片 / 技术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相似检索使用向量空间中的余弦相似度排序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该模块把分类之外的文本挖掘结果转化为一个可用的信息检索功能。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7051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9527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</a:t>
            </a:r>
            <a:endParaRPr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33528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芯片和人工智能产业发展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90900" y="3238500"/>
            <a:ext cx="4572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>
            <a:off x="3829050" y="31813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33875" y="2476500"/>
            <a:ext cx="2286000" cy="15240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33875" y="28575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向量化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33875" y="33147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vector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vs.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D6E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document matrix</a:t>
            </a:r>
            <a:endParaRPr sz="1125" b="0">
              <a:solidFill>
                <a:srgbClr val="D6E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96100" y="3238500"/>
            <a:ext cx="4572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7334250" y="3181350"/>
            <a:ext cx="133350" cy="13335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58125" y="2247900"/>
            <a:ext cx="33337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53400" y="2552700"/>
            <a:ext cx="1238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53400" y="26098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 相似标题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72450" y="31051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0.82</a:t>
            </a:r>
            <a:endParaRPr sz="10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05850" y="310515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国产大模型发布多模态理解能力</a:t>
            </a:r>
            <a:endParaRPr sz="9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477500" y="31051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72450" y="35052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0.76</a:t>
            </a:r>
            <a:endParaRPr sz="10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350520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新一代芯片采用先进制程</a:t>
            </a:r>
            <a:endParaRPr sz="9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477500" y="35052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72450" y="39052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0.69</a:t>
            </a:r>
            <a:endParaRPr sz="1050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05850" y="390525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高效文本检索算法降低成本</a:t>
            </a:r>
            <a:endParaRPr sz="9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77500" y="39052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A6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</a:t>
            </a:r>
            <a:endParaRPr sz="975" b="1">
              <a:solidFill>
                <a:srgbClr val="12A6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905250" y="502920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sim(a,b) = a·b / (||a|| ||b||)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marker"/>
          <p:cNvSpPr>
            <a:spLocks noGrp="1"/>
          </p:cNvSpPr>
          <p:nvPr/>
        </p:nvSpPr>
        <p:spPr>
          <a:xfrm>
            <a:off x="666750" y="514350"/>
            <a:ext cx="228600" cy="3810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990600" y="419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&amp; CONCLUSION</a:t>
            </a:r>
            <a:endParaRPr sz="90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8763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最终系统可通过网页完成交互式文本挖掘展示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859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答辩时可现场输入新闻标题，展示分类预测、相似检索和主题发现结果。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247900"/>
            <a:ext cx="49530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2514600"/>
            <a:ext cx="441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中文新闻文本挖掘系统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9908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分类预测</a:t>
            </a:r>
            <a:endParaRPr sz="900" b="0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219450"/>
            <a:ext cx="590550" cy="19050"/>
          </a:xfrm>
          <a:prstGeom prst="rect">
            <a:avLst/>
          </a:prstGeom>
          <a:solidFill>
            <a:srgbClr val="F044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943100" y="29908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  <a:endParaRPr sz="9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81300" y="29908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主题发现</a:t>
            </a:r>
            <a:endParaRPr sz="9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29908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样例数据</a:t>
            </a:r>
            <a:endParaRPr sz="9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3333750"/>
            <a:ext cx="44196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04900" y="3429000"/>
            <a:ext cx="4362450" cy="495300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95400" y="35623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华为发布新款折叠屏手机，搭载最新人工智能芯片</a:t>
            </a:r>
            <a:endParaRPr sz="10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4171950"/>
            <a:ext cx="14287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044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2291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预测结果：科技</a:t>
            </a:r>
            <a:endParaRPr sz="975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" y="4724400"/>
            <a:ext cx="4000500" cy="1714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4724400"/>
            <a:ext cx="3143250" cy="171450"/>
          </a:xfrm>
          <a:prstGeom prst="rect">
            <a:avLst/>
          </a:prstGeom>
          <a:solidFill>
            <a:srgbClr val="0B72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29375" y="2305050"/>
            <a:ext cx="4095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262890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81800" y="3143250"/>
            <a:ext cx="7048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2A06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781800" y="32004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975" b="1">
              <a:solidFill>
                <a:srgbClr val="22A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15250" y="32004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分类、主题发现、关键词、检索、演示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781800" y="3600450"/>
            <a:ext cx="7048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B72D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81800" y="36576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2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sz="975" b="1">
              <a:solidFill>
                <a:srgbClr val="0B72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15250" y="36576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形成可复现、可解释的文本挖掘流程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781800" y="4057650"/>
            <a:ext cx="7048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81800" y="41148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sz="9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15250" y="41148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短文本上下文少，语义相近类别易混淆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81800" y="4514850"/>
            <a:ext cx="7048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781800" y="4572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</a:t>
            </a:r>
            <a:endParaRPr sz="9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715250" y="45720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 BERT 类模型和更丰富数据增强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695700" y="57531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4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演示地址：http://127.0.0.1:8501</a:t>
            </a:r>
            <a:endParaRPr sz="1350" b="1">
              <a:solidFill>
                <a:srgbClr val="F04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6343650"/>
            <a:ext cx="10858500" cy="11430"/>
          </a:xfrm>
          <a:prstGeom prst="rect">
            <a:avLst/>
          </a:prstGeom>
          <a:solidFill>
            <a:srgbClr val="D8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中文新闻文本挖掘与热点发现系统</a:t>
            </a:r>
            <a:endParaRPr sz="8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008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2048</Words>
  <Application>WPS 演示</Application>
  <PresentationFormat>Converted Presentation</PresentationFormat>
  <Paragraphs>364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Zero</cp:lastModifiedBy>
  <cp:revision>1</cp:revision>
  <dcterms:created xsi:type="dcterms:W3CDTF">2026-06-07T11:02:20Z</dcterms:created>
  <dcterms:modified xsi:type="dcterms:W3CDTF">2026-06-07T11:02:20Z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17D34DFCFE084317AE2932E0F6D6F520_12</vt:lpwstr>
  </property>
</Properties>
</file>